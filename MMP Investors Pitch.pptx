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BG"/>
          <p:cNvSpPr>
            <a:spLocks noGrp="1"/>
          </p:cNvSpPr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D516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GoldBar"/>
          <p:cNvSpPr>
            <a:spLocks noGrp="1"/>
          </p:cNvSpPr>
          <p:nvPr/>
        </p:nvSpPr>
        <p:spPr>
          <a:xfrm>
            <a:off x="457200" y="3200400"/>
            <a:ext cx="1371600" cy="114300"/>
          </a:xfrm>
          <a:prstGeom prst="rect">
            <a:avLst/>
          </a:prstGeom>
          <a:solidFill>
            <a:srgbClr val="FAC81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71600"/>
            <a:ext cx="8229600" cy="1600200"/>
          </a:xfrm>
        </p:spPr>
        <p:txBody>
          <a:bodyPr anchor="ctr"/>
          <a:lstStyle/>
          <a:p>
            <a:pPr algn="l"/>
            <a:r>
              <a:rPr lang="en-GB" sz="5400" b="1" dirty="0">
                <a:solidFill>
                  <a:srgbClr val="FFFFFF"/>
                </a:solidFill>
                <a:latin typeface="Calibri"/>
              </a:rPr>
              <a:t>Live Student Campus Hub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428400"/>
            <a:ext cx="8229600" cy="1028700"/>
          </a:xfrm>
        </p:spPr>
        <p:txBody>
          <a:bodyPr anchor="t"/>
          <a:lstStyle/>
          <a:p>
            <a:pPr algn="l" marL="0">
              <a:buNone/>
            </a:pPr>
            <a:r>
              <a:rPr lang="en-GB" sz="2400" b="0" dirty="0">
                <a:solidFill>
                  <a:srgbClr val="FAC817"/>
                </a:solidFill>
                <a:latin typeface="Calibri"/>
              </a:rPr>
              <a:t>Minimal Marketable Product — Investor Pitch Deck</a:t>
            </a:r>
          </a:p>
          <a:p>
            <a:pPr algn="l" marL="0">
              <a:buNone/>
            </a:pPr>
            <a:r>
              <a:rPr lang="en-GB" sz="1600" b="0" dirty="0">
                <a:solidFill>
                  <a:srgbClr val="C8CAD6"/>
                </a:solidFill>
                <a:latin typeface="Calibri"/>
              </a:rPr>
              <a:t>University of Wolverhampton — African Titans — 5CS024 Collaborative Development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BG"/>
          <p:cNvSpPr>
            <a:spLocks noGrp="1"/>
          </p:cNvSpPr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TitleBar"/>
          <p:cNvSpPr>
            <a:spLocks noGrp="1"/>
          </p:cNvSpPr>
          <p:nvPr/>
        </p:nvSpPr>
        <p:spPr>
          <a:xfrm>
            <a:off x="0" y="0"/>
            <a:ext cx="9144000" cy="971550"/>
          </a:xfrm>
          <a:prstGeom prst="rect">
            <a:avLst/>
          </a:prstGeom>
          <a:solidFill>
            <a:srgbClr val="4D516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GoldStrip"/>
          <p:cNvSpPr>
            <a:spLocks noGrp="1"/>
          </p:cNvSpPr>
          <p:nvPr/>
        </p:nvSpPr>
        <p:spPr>
          <a:xfrm>
            <a:off x="0" y="971550"/>
            <a:ext cx="9144000" cy="71438"/>
          </a:xfrm>
          <a:prstGeom prst="rect">
            <a:avLst/>
          </a:prstGeom>
          <a:solidFill>
            <a:srgbClr val="FAC81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"/>
            <a:ext cx="8229600" cy="742950"/>
          </a:xfrm>
        </p:spPr>
        <p:txBody>
          <a:bodyPr anchor="ctr"/>
          <a:lstStyle/>
          <a:p>
            <a:pPr algn="l"/>
            <a:r>
              <a:rPr lang="en-GB" sz="3200" b="1" dirty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14163"/>
            <a:ext cx="8229600" cy="5600000"/>
          </a:xfrm>
        </p:spPr>
        <p:txBody>
          <a:bodyPr anchor="t"/>
          <a:lstStyle/>
          <a:p>
            <a:pPr marL="228600" indent="-228600">
              <a:buChar char="•"/>
            </a:pPr>
            <a:r>
              <a:rPr lang="en-GB" sz="2000" b="0" dirty="0">
                <a:solidFill>
                  <a:srgbClr val="1A1C2E"/>
                </a:solidFill>
                <a:latin typeface="Calibri"/>
              </a:rPr>
              <a:t>Students struggle to find reliable part-time work — job info is scattered across multiple platforms</a:t>
            </a:r>
          </a:p>
          <a:p>
            <a:pPr marL="228600" indent="-228600">
              <a:buChar char="•"/>
            </a:pPr>
            <a:r>
              <a:rPr lang="en-GB" sz="2000" b="0" dirty="0">
                <a:solidFill>
                  <a:srgbClr val="1A1C2E"/>
                </a:solidFill>
                <a:latin typeface="Calibri"/>
              </a:rPr>
              <a:t>International students face strict 20-hour weekly work limits but receive no targeted support to find compliant roles</a:t>
            </a:r>
          </a:p>
          <a:p>
            <a:pPr marL="228600" indent="-228600">
              <a:buChar char="•"/>
            </a:pPr>
            <a:r>
              <a:rPr lang="en-GB" sz="2000" b="0" dirty="0">
                <a:solidFill>
                  <a:srgbClr val="1A1C2E"/>
                </a:solidFill>
                <a:latin typeface="Calibri"/>
              </a:rPr>
              <a:t>Accommodation, events, and campus services are siloed across disconnected systems</a:t>
            </a:r>
          </a:p>
          <a:p>
            <a:pPr marL="228600" indent="-228600">
              <a:buChar char="•"/>
            </a:pPr>
            <a:r>
              <a:rPr lang="en-GB" sz="2000" b="0" dirty="0">
                <a:solidFill>
                  <a:srgbClr val="1A1C2E"/>
                </a:solidFill>
                <a:latin typeface="Calibri"/>
              </a:rPr>
              <a:t>Employers have no direct, trusted channel to reach the student workforce</a:t>
            </a:r>
          </a:p>
          <a:p>
            <a:pPr marL="228600" indent="-228600">
              <a:buChar char="•"/>
            </a:pPr>
            <a:r>
              <a:rPr lang="en-GB" sz="2000" b="0" dirty="0">
                <a:solidFill>
                  <a:srgbClr val="1A1C2E"/>
                </a:solidFill>
                <a:latin typeface="Calibri"/>
              </a:rPr>
              <a:t>No single platform connects students with jobs, housing, events, and support at Wolverhampton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BG"/>
          <p:cNvSpPr>
            <a:spLocks noGrp="1"/>
          </p:cNvSpPr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TitleBar"/>
          <p:cNvSpPr>
            <a:spLocks noGrp="1"/>
          </p:cNvSpPr>
          <p:nvPr/>
        </p:nvSpPr>
        <p:spPr>
          <a:xfrm>
            <a:off x="0" y="0"/>
            <a:ext cx="9144000" cy="971550"/>
          </a:xfrm>
          <a:prstGeom prst="rect">
            <a:avLst/>
          </a:prstGeom>
          <a:solidFill>
            <a:srgbClr val="4D516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GoldStrip"/>
          <p:cNvSpPr>
            <a:spLocks noGrp="1"/>
          </p:cNvSpPr>
          <p:nvPr/>
        </p:nvSpPr>
        <p:spPr>
          <a:xfrm>
            <a:off x="0" y="971550"/>
            <a:ext cx="9144000" cy="71438"/>
          </a:xfrm>
          <a:prstGeom prst="rect">
            <a:avLst/>
          </a:prstGeom>
          <a:solidFill>
            <a:srgbClr val="FAC81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"/>
            <a:ext cx="8229600" cy="742950"/>
          </a:xfrm>
        </p:spPr>
        <p:txBody>
          <a:bodyPr anchor="ctr"/>
          <a:lstStyle/>
          <a:p>
            <a:pPr algn="l"/>
            <a:r>
              <a:rPr lang="en-GB" sz="3200" b="1" dirty="0">
                <a:solidFill>
                  <a:srgbClr val="FFFFFF"/>
                </a:solidFill>
                <a:latin typeface="Calibri"/>
              </a:rPr>
              <a:t>The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14163"/>
            <a:ext cx="8229600" cy="5600000"/>
          </a:xfrm>
        </p:spPr>
        <p:txBody>
          <a:bodyPr anchor="t"/>
          <a:lstStyle/>
          <a:p>
            <a:pPr marL="0">
              <a:buNone/>
            </a:pPr>
            <a:r>
              <a:rPr lang="en-GB" sz="4400" b="1" dirty="0">
                <a:solidFill>
                  <a:srgbClr val="FAC817"/>
                </a:solidFill>
                <a:latin typeface="Calibri"/>
              </a:rPr>
              <a:t xml:space="preserve">2.8M+  </a:t>
            </a:r>
            <a:r>
              <a:rPr lang="en-GB" sz="1800" b="0" dirty="0">
                <a:solidFill>
                  <a:srgbClr val="4D5168"/>
                </a:solidFill>
                <a:latin typeface="Calibri"/>
              </a:rPr>
              <a:t>UK university students</a:t>
            </a:r>
          </a:p>
          <a:p>
            <a:pPr marL="0">
              <a:buNone/>
            </a:pPr>
            <a:r>
              <a:rPr lang="en-GB" sz="4400" b="1" dirty="0">
                <a:solidFill>
                  <a:srgbClr val="FAC817"/>
                </a:solidFill>
                <a:latin typeface="Calibri"/>
              </a:rPr>
              <a:t xml:space="preserve">20,000+  </a:t>
            </a:r>
            <a:r>
              <a:rPr lang="en-GB" sz="1800" b="0" dirty="0">
                <a:solidFill>
                  <a:srgbClr val="4D5168"/>
                </a:solidFill>
                <a:latin typeface="Calibri"/>
              </a:rPr>
              <a:t>students at University of Wolverhampton across 3 campuses</a:t>
            </a:r>
          </a:p>
          <a:p>
            <a:pPr marL="0">
              <a:buNone/>
            </a:pPr>
            <a:r>
              <a:rPr lang="en-GB" sz="4400" b="1" dirty="0">
                <a:solidFill>
                  <a:srgbClr val="FAC817"/>
                </a:solidFill>
                <a:latin typeface="Calibri"/>
              </a:rPr>
              <a:t xml:space="preserve">600,000+  </a:t>
            </a:r>
            <a:r>
              <a:rPr lang="en-GB" sz="1800" b="0" dirty="0">
                <a:solidFill>
                  <a:srgbClr val="4D5168"/>
                </a:solidFill>
                <a:latin typeface="Calibri"/>
              </a:rPr>
              <a:t>international students enrolled nationally</a:t>
            </a:r>
          </a:p>
          <a:p>
            <a:pPr marL="228600" indent="-228600">
              <a:buChar char="•"/>
            </a:pPr>
            <a:r>
              <a:rPr lang="en-GB" sz="2000" b="0" dirty="0">
                <a:solidFill>
                  <a:srgbClr val="1A1C2E"/>
                </a:solidFill>
                <a:latin typeface="Calibri"/>
              </a:rPr>
              <a:t>Growing demand for flexible, part-time work among students</a:t>
            </a:r>
          </a:p>
          <a:p>
            <a:pPr marL="228600" indent="-228600">
              <a:buChar char="•"/>
            </a:pPr>
            <a:r>
              <a:rPr lang="en-GB" sz="2000" b="0" dirty="0">
                <a:solidFill>
                  <a:srgbClr val="1A1C2E"/>
                </a:solidFill>
                <a:latin typeface="Calibri"/>
              </a:rPr>
              <a:t>No dominant platform serving the campus employment + services niche</a:t>
            </a:r>
          </a:p>
          <a:p>
            <a:pPr marL="228600" indent="-228600">
              <a:buChar char="•"/>
            </a:pPr>
            <a:r>
              <a:rPr lang="en-GB" sz="2000" b="0" dirty="0">
                <a:solidFill>
                  <a:srgbClr val="1A1C2E"/>
                </a:solidFill>
                <a:latin typeface="Calibri"/>
              </a:rPr>
              <a:t>University of Wolverhampton — Wolverhampton, Telford, and Walsall campuses — an ideal launchpad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BG"/>
          <p:cNvSpPr>
            <a:spLocks noGrp="1"/>
          </p:cNvSpPr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TitleBar"/>
          <p:cNvSpPr>
            <a:spLocks noGrp="1"/>
          </p:cNvSpPr>
          <p:nvPr/>
        </p:nvSpPr>
        <p:spPr>
          <a:xfrm>
            <a:off x="0" y="0"/>
            <a:ext cx="9144000" cy="971550"/>
          </a:xfrm>
          <a:prstGeom prst="rect">
            <a:avLst/>
          </a:prstGeom>
          <a:solidFill>
            <a:srgbClr val="4D516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GoldStrip"/>
          <p:cNvSpPr>
            <a:spLocks noGrp="1"/>
          </p:cNvSpPr>
          <p:nvPr/>
        </p:nvSpPr>
        <p:spPr>
          <a:xfrm>
            <a:off x="0" y="971550"/>
            <a:ext cx="9144000" cy="71438"/>
          </a:xfrm>
          <a:prstGeom prst="rect">
            <a:avLst/>
          </a:prstGeom>
          <a:solidFill>
            <a:srgbClr val="FAC81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"/>
            <a:ext cx="8229600" cy="742950"/>
          </a:xfrm>
        </p:spPr>
        <p:txBody>
          <a:bodyPr anchor="ctr"/>
          <a:lstStyle/>
          <a:p>
            <a:pPr algn="l"/>
            <a:r>
              <a:rPr lang="en-GB" sz="3200" b="1" dirty="0">
                <a:solidFill>
                  <a:srgbClr val="FFFFFF"/>
                </a:solidFill>
                <a:latin typeface="Calibri"/>
              </a:rPr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14163"/>
            <a:ext cx="8229600" cy="5600000"/>
          </a:xfrm>
        </p:spPr>
        <p:txBody>
          <a:bodyPr anchor="t"/>
          <a:lstStyle/>
          <a:p>
            <a:pPr marL="228600" indent="-228600">
              <a:buChar char="•"/>
            </a:pPr>
            <a:r>
              <a:rPr lang="en-GB" sz="2000" b="0" dirty="0">
                <a:solidFill>
                  <a:srgbClr val="1A1C2E"/>
                </a:solidFill>
                <a:latin typeface="Calibri"/>
              </a:rPr>
              <a:t>A fully built, production-ready web platform centralising student jobs, accommodation, events, and campus services</a:t>
            </a:r>
          </a:p>
          <a:p>
            <a:pPr marL="228600" indent="-228600">
              <a:buChar char="•"/>
            </a:pPr>
            <a:r>
              <a:rPr lang="en-GB" sz="2000" b="0" dirty="0">
                <a:solidFill>
                  <a:srgbClr val="1A1C2E"/>
                </a:solidFill>
                <a:latin typeface="Calibri"/>
              </a:rPr>
              <a:t>MMP delivered — not a concept. Built with Next.js 16, React 19, TypeScript, MySQL, and deployed on Vercel</a:t>
            </a:r>
          </a:p>
          <a:p>
            <a:pPr marL="228600" indent="-228600">
              <a:buChar char="•"/>
            </a:pPr>
            <a:r>
              <a:rPr lang="en-GB" sz="2000" b="0" dirty="0">
                <a:solidFill>
                  <a:srgbClr val="1A1C2E"/>
                </a:solidFill>
                <a:latin typeface="Calibri"/>
              </a:rPr>
              <a:t>Three-campus coverage: Wolverhampton, Telford, and Walsall</a:t>
            </a:r>
          </a:p>
          <a:p>
            <a:pPr marL="228600" indent="-228600">
              <a:buChar char="•"/>
            </a:pPr>
            <a:r>
              <a:rPr lang="en-GB" sz="2000" b="0" dirty="0">
                <a:solidFill>
                  <a:srgbClr val="1A1C2E"/>
                </a:solidFill>
                <a:latin typeface="Calibri"/>
              </a:rPr>
              <a:t>Real bcrypt-secured authentication with role-based access: Student, Admin, Employer</a:t>
            </a:r>
          </a:p>
          <a:p>
            <a:pPr marL="228600" indent="-228600">
              <a:buChar char="•"/>
            </a:pPr>
            <a:r>
              <a:rPr lang="en-GB" sz="2000" b="0" dirty="0">
                <a:solidFill>
                  <a:srgbClr val="1A1C2E"/>
                </a:solidFill>
                <a:latin typeface="Calibri"/>
              </a:rPr>
              <a:t>Admin moderation workflow ensures only verified, quality listings reach students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BG"/>
          <p:cNvSpPr>
            <a:spLocks noGrp="1"/>
          </p:cNvSpPr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TitleBar"/>
          <p:cNvSpPr>
            <a:spLocks noGrp="1"/>
          </p:cNvSpPr>
          <p:nvPr/>
        </p:nvSpPr>
        <p:spPr>
          <a:xfrm>
            <a:off x="0" y="0"/>
            <a:ext cx="9144000" cy="971550"/>
          </a:xfrm>
          <a:prstGeom prst="rect">
            <a:avLst/>
          </a:prstGeom>
          <a:solidFill>
            <a:srgbClr val="4D516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GoldStrip"/>
          <p:cNvSpPr>
            <a:spLocks noGrp="1"/>
          </p:cNvSpPr>
          <p:nvPr/>
        </p:nvSpPr>
        <p:spPr>
          <a:xfrm>
            <a:off x="0" y="971550"/>
            <a:ext cx="9144000" cy="71438"/>
          </a:xfrm>
          <a:prstGeom prst="rect">
            <a:avLst/>
          </a:prstGeom>
          <a:solidFill>
            <a:srgbClr val="FAC81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"/>
            <a:ext cx="8229600" cy="742950"/>
          </a:xfrm>
        </p:spPr>
        <p:txBody>
          <a:bodyPr anchor="ctr"/>
          <a:lstStyle/>
          <a:p>
            <a:pPr algn="l"/>
            <a:r>
              <a:rPr lang="en-GB" sz="3200" b="1" dirty="0">
                <a:solidFill>
                  <a:srgbClr val="FFFFFF"/>
                </a:solidFill>
                <a:latin typeface="Calibri"/>
              </a:rPr>
              <a:t>Product: What We’ve Built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14163"/>
            <a:ext cx="8229600" cy="5600000"/>
          </a:xfrm>
        </p:spPr>
        <p:txBody>
          <a:bodyPr anchor="t"/>
          <a:lstStyle/>
          <a:p>
            <a:pPr marL="0">
              <a:buNone/>
              <a:spcBef>
                <a:spcPts val="300"/>
              </a:spcBef>
            </a:pPr>
            <a:r>
              <a:rPr lang="en-GB" sz="2000" b="1" dirty="0">
                <a:solidFill>
                  <a:srgbClr val="4D5168"/>
                </a:solidFill>
                <a:latin typeface="Calibri"/>
              </a:rPr>
              <a:t>6 Fully Implemented Features</a:t>
            </a:r>
          </a:p>
          <a:p>
            <a:pPr marL="228600" indent="-228600">
              <a:buChar char="•"/>
            </a:pPr>
            <a:r>
              <a:rPr lang="en-GB" sz="2000" b="1" dirty="0">
                <a:solidFill>
                  <a:srgbClr val="4D5168"/>
                </a:solidFill>
                <a:latin typeface="Calibri"/>
              </a:rPr>
              <a:t xml:space="preserve">Jobs Board: </a:t>
            </a:r>
            <a:r>
              <a:rPr lang="en-GB" sz="2000" b="0" dirty="0">
                <a:solidFill>
                  <a:srgbClr val="1A1C2E"/>
                </a:solidFill>
                <a:latin typeface="Calibri"/>
              </a:rPr>
              <a:t>Job listings with campus/type filters, keyword search, bookmarking, and direct apply links</a:t>
            </a:r>
          </a:p>
          <a:p>
            <a:pPr marL="228600" indent="-228600">
              <a:buChar char="•"/>
            </a:pPr>
            <a:r>
              <a:rPr lang="en-GB" sz="2000" b="1" dirty="0">
                <a:solidFill>
                  <a:srgbClr val="4D5168"/>
                </a:solidFill>
                <a:latin typeface="Calibri"/>
              </a:rPr>
              <a:t xml:space="preserve">Accommodation: </a:t>
            </a:r>
            <a:r>
              <a:rPr lang="en-GB" sz="2000" b="0" dirty="0">
                <a:solidFill>
                  <a:srgbClr val="1A1C2E"/>
                </a:solidFill>
                <a:latin typeface="Calibri"/>
              </a:rPr>
              <a:t>Verified student halls, private rentals, shared houses, and studios with amenity badges</a:t>
            </a:r>
          </a:p>
          <a:p>
            <a:pPr marL="228600" indent="-228600">
              <a:buChar char="•"/>
            </a:pPr>
            <a:r>
              <a:rPr lang="en-GB" sz="2000" b="1" dirty="0">
                <a:solidFill>
                  <a:srgbClr val="4D5168"/>
                </a:solidFill>
                <a:latin typeface="Calibri"/>
              </a:rPr>
              <a:t xml:space="preserve">Events Calendar: </a:t>
            </a:r>
            <a:r>
              <a:rPr lang="en-GB" sz="2000" b="0" dirty="0">
                <a:solidFill>
                  <a:srgbClr val="1A1C2E"/>
                </a:solidFill>
                <a:latin typeface="Calibri"/>
              </a:rPr>
              <a:t>Career fairs, workshops, sport tournaments, and wellbeing sessions with registration tracking</a:t>
            </a:r>
          </a:p>
          <a:p>
            <a:pPr marL="228600" indent="-228600">
              <a:buChar char="•"/>
            </a:pPr>
            <a:r>
              <a:rPr lang="en-GB" sz="2000" b="1" dirty="0">
                <a:solidFill>
                  <a:srgbClr val="4D5168"/>
                </a:solidFill>
                <a:latin typeface="Calibri"/>
              </a:rPr>
              <a:t xml:space="preserve">Student Profile: </a:t>
            </a:r>
            <a:r>
              <a:rPr lang="en-GB" sz="2000" b="0" dirty="0">
                <a:solidFill>
                  <a:srgbClr val="1A1C2E"/>
                </a:solidFill>
                <a:latin typeface="Calibri"/>
              </a:rPr>
              <a:t>Saved jobs, application history with status tracking (applied, interview, accepted, rejected)</a:t>
            </a:r>
          </a:p>
          <a:p>
            <a:pPr marL="228600" indent="-228600">
              <a:buChar char="•"/>
            </a:pPr>
            <a:r>
              <a:rPr lang="en-GB" sz="2000" b="1" dirty="0">
                <a:solidFill>
                  <a:srgbClr val="4D5168"/>
                </a:solidFill>
                <a:latin typeface="Calibri"/>
              </a:rPr>
              <a:t xml:space="preserve">Admin Dashboard: </a:t>
            </a:r>
            <a:r>
              <a:rPr lang="en-GB" sz="2000" b="0" dirty="0">
                <a:solidFill>
                  <a:srgbClr val="1A1C2E"/>
                </a:solidFill>
                <a:latin typeface="Calibri"/>
              </a:rPr>
              <a:t>Job/accommodation approval queues, user management, and platform stats dashboard</a:t>
            </a:r>
          </a:p>
          <a:p>
            <a:pPr marL="228600" indent="-228600">
              <a:buChar char="•"/>
            </a:pPr>
            <a:r>
              <a:rPr lang="en-GB" sz="2000" b="1" dirty="0">
                <a:solidFill>
                  <a:srgbClr val="4D5168"/>
                </a:solidFill>
                <a:latin typeface="Calibri"/>
              </a:rPr>
              <a:t xml:space="preserve">AI Chatbot: </a:t>
            </a:r>
            <a:r>
              <a:rPr lang="en-GB" sz="2000" b="0" dirty="0">
                <a:solidFill>
                  <a:srgbClr val="1A1C2E"/>
                </a:solidFill>
                <a:latin typeface="Calibri"/>
              </a:rPr>
              <a:t>Keyword-matched FAQ assistant covering jobs, housing, transport, and support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BG"/>
          <p:cNvSpPr>
            <a:spLocks noGrp="1"/>
          </p:cNvSpPr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TitleBar"/>
          <p:cNvSpPr>
            <a:spLocks noGrp="1"/>
          </p:cNvSpPr>
          <p:nvPr/>
        </p:nvSpPr>
        <p:spPr>
          <a:xfrm>
            <a:off x="0" y="0"/>
            <a:ext cx="9144000" cy="971550"/>
          </a:xfrm>
          <a:prstGeom prst="rect">
            <a:avLst/>
          </a:prstGeom>
          <a:solidFill>
            <a:srgbClr val="4D516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GoldStrip"/>
          <p:cNvSpPr>
            <a:spLocks noGrp="1"/>
          </p:cNvSpPr>
          <p:nvPr/>
        </p:nvSpPr>
        <p:spPr>
          <a:xfrm>
            <a:off x="0" y="971550"/>
            <a:ext cx="9144000" cy="71438"/>
          </a:xfrm>
          <a:prstGeom prst="rect">
            <a:avLst/>
          </a:prstGeom>
          <a:solidFill>
            <a:srgbClr val="FAC81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"/>
            <a:ext cx="8229600" cy="742950"/>
          </a:xfrm>
        </p:spPr>
        <p:txBody>
          <a:bodyPr anchor="ctr"/>
          <a:lstStyle/>
          <a:p>
            <a:pPr algn="l"/>
            <a:r>
              <a:rPr lang="en-GB" sz="3200" b="1" dirty="0">
                <a:solidFill>
                  <a:srgbClr val="FFFFFF"/>
                </a:solidFill>
                <a:latin typeface="Calibri"/>
              </a:rPr>
              <a:t>Technology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14163"/>
            <a:ext cx="8229600" cy="5600000"/>
          </a:xfrm>
        </p:spPr>
        <p:txBody>
          <a:bodyPr anchor="t"/>
          <a:lstStyle/>
          <a:p>
            <a:pPr marL="0">
              <a:buNone/>
              <a:spcBef>
                <a:spcPts val="300"/>
              </a:spcBef>
            </a:pPr>
            <a:r>
              <a:rPr lang="en-GB" sz="2000" b="1" dirty="0">
                <a:solidFill>
                  <a:srgbClr val="4D5168"/>
                </a:solidFill>
                <a:latin typeface="Calibri"/>
              </a:rPr>
              <a:t>Proven, Modern Tech Stack</a:t>
            </a:r>
          </a:p>
          <a:p>
            <a:pPr marL="228600" indent="-228600">
              <a:buChar char="•"/>
            </a:pPr>
            <a:r>
              <a:rPr lang="en-GB" sz="2000" b="1" dirty="0">
                <a:solidFill>
                  <a:srgbClr val="4D5168"/>
                </a:solidFill>
                <a:latin typeface="Calibri"/>
              </a:rPr>
              <a:t xml:space="preserve">Framework: </a:t>
            </a:r>
            <a:r>
              <a:rPr lang="en-GB" sz="2000" b="0" dirty="0">
                <a:solidFill>
                  <a:srgbClr val="1A1C2E"/>
                </a:solidFill>
                <a:latin typeface="Calibri"/>
              </a:rPr>
              <a:t>Next.js 16 (App Router) + React 19 + TypeScript — full-stack, type-safe, production-grade</a:t>
            </a:r>
          </a:p>
          <a:p>
            <a:pPr marL="228600" indent="-228600">
              <a:buChar char="•"/>
            </a:pPr>
            <a:r>
              <a:rPr lang="en-GB" sz="2000" b="1" dirty="0">
                <a:solidFill>
                  <a:srgbClr val="4D5168"/>
                </a:solidFill>
                <a:latin typeface="Calibri"/>
              </a:rPr>
              <a:t xml:space="preserve">UI: </a:t>
            </a:r>
            <a:r>
              <a:rPr lang="en-GB" sz="2000" b="0" dirty="0">
                <a:solidFill>
                  <a:srgbClr val="1A1C2E"/>
                </a:solidFill>
                <a:latin typeface="Calibri"/>
              </a:rPr>
              <a:t>Tailwind CSS v4 with University of Wolverhampton brand colours (#4D5168 + #FAC817)</a:t>
            </a:r>
          </a:p>
          <a:p>
            <a:pPr marL="228600" indent="-228600">
              <a:buChar char="•"/>
            </a:pPr>
            <a:r>
              <a:rPr lang="en-GB" sz="2000" b="1" dirty="0">
                <a:solidFill>
                  <a:srgbClr val="4D5168"/>
                </a:solidFill>
                <a:latin typeface="Calibri"/>
              </a:rPr>
              <a:t xml:space="preserve">Database: </a:t>
            </a:r>
            <a:r>
              <a:rPr lang="en-GB" sz="2000" b="0" dirty="0">
                <a:solidFill>
                  <a:srgbClr val="1A1C2E"/>
                </a:solidFill>
                <a:latin typeface="Calibri"/>
              </a:rPr>
              <a:t>MySQL with mysql2 — structured relational data, parameterised queries prevent SQL injection</a:t>
            </a:r>
          </a:p>
          <a:p>
            <a:pPr marL="228600" indent="-228600">
              <a:buChar char="•"/>
            </a:pPr>
            <a:r>
              <a:rPr lang="en-GB" sz="2000" b="1" dirty="0">
                <a:solidFill>
                  <a:srgbClr val="4D5168"/>
                </a:solidFill>
                <a:latin typeface="Calibri"/>
              </a:rPr>
              <a:t xml:space="preserve">Security: </a:t>
            </a:r>
            <a:r>
              <a:rPr lang="en-GB" sz="2000" b="0" dirty="0">
                <a:solidFill>
                  <a:srgbClr val="1A1C2E"/>
                </a:solidFill>
                <a:latin typeface="Calibri"/>
              </a:rPr>
              <a:t>bcryptjs password hashing + HTTP-only session cookies + RBAC enforcement at API layer</a:t>
            </a:r>
          </a:p>
          <a:p>
            <a:pPr marL="228600" indent="-228600">
              <a:buChar char="•"/>
            </a:pPr>
            <a:r>
              <a:rPr lang="en-GB" sz="2000" b="1" dirty="0">
                <a:solidFill>
                  <a:srgbClr val="4D5168"/>
                </a:solidFill>
                <a:latin typeface="Calibri"/>
              </a:rPr>
              <a:t xml:space="preserve">Deployment: </a:t>
            </a:r>
            <a:r>
              <a:rPr lang="en-GB" sz="2000" b="0" dirty="0">
                <a:solidFill>
                  <a:srgbClr val="1A1C2E"/>
                </a:solidFill>
                <a:latin typeface="Calibri"/>
              </a:rPr>
              <a:t>Vercel — automatic HTTPS, global CDN, zero-config CI/CD from GitHub</a:t>
            </a:r>
          </a:p>
          <a:p>
            <a:pPr marL="228600" indent="-228600">
              <a:buChar char="•"/>
            </a:pPr>
            <a:r>
              <a:rPr lang="en-GB" sz="2000" b="1" dirty="0">
                <a:solidFill>
                  <a:srgbClr val="4D5168"/>
                </a:solidFill>
                <a:latin typeface="Calibri"/>
              </a:rPr>
              <a:t xml:space="preserve">Libraries: </a:t>
            </a:r>
            <a:r>
              <a:rPr lang="en-GB" sz="2000" b="0" dirty="0">
                <a:solidFill>
                  <a:srgbClr val="1A1C2E"/>
                </a:solidFill>
                <a:latin typeface="Calibri"/>
              </a:rPr>
              <a:t>Radix UI component primitives + Lucide icons — accessible, consistent UI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BG"/>
          <p:cNvSpPr>
            <a:spLocks noGrp="1"/>
          </p:cNvSpPr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TitleBar"/>
          <p:cNvSpPr>
            <a:spLocks noGrp="1"/>
          </p:cNvSpPr>
          <p:nvPr/>
        </p:nvSpPr>
        <p:spPr>
          <a:xfrm>
            <a:off x="0" y="0"/>
            <a:ext cx="9144000" cy="971550"/>
          </a:xfrm>
          <a:prstGeom prst="rect">
            <a:avLst/>
          </a:prstGeom>
          <a:solidFill>
            <a:srgbClr val="4D516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GoldStrip"/>
          <p:cNvSpPr>
            <a:spLocks noGrp="1"/>
          </p:cNvSpPr>
          <p:nvPr/>
        </p:nvSpPr>
        <p:spPr>
          <a:xfrm>
            <a:off x="0" y="971550"/>
            <a:ext cx="9144000" cy="71438"/>
          </a:xfrm>
          <a:prstGeom prst="rect">
            <a:avLst/>
          </a:prstGeom>
          <a:solidFill>
            <a:srgbClr val="FAC81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"/>
            <a:ext cx="8229600" cy="742950"/>
          </a:xfrm>
        </p:spPr>
        <p:txBody>
          <a:bodyPr anchor="ctr"/>
          <a:lstStyle/>
          <a:p>
            <a:pPr algn="l"/>
            <a:r>
              <a:rPr lang="en-GB" sz="3200" b="1" dirty="0">
                <a:solidFill>
                  <a:srgbClr val="FFFFFF"/>
                </a:solidFill>
                <a:latin typeface="Calibri"/>
              </a:rP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14163"/>
            <a:ext cx="8229600" cy="5600000"/>
          </a:xfrm>
        </p:spPr>
        <p:txBody>
          <a:bodyPr anchor="t"/>
          <a:lstStyle/>
          <a:p>
            <a:pPr marL="0">
              <a:buNone/>
              <a:spcBef>
                <a:spcPts val="300"/>
              </a:spcBef>
            </a:pPr>
            <a:r>
              <a:rPr lang="en-GB" sz="2000" b="1" dirty="0">
                <a:solidFill>
                  <a:srgbClr val="4D5168"/>
                </a:solidFill>
                <a:latin typeface="Calibri"/>
              </a:rPr>
              <a:t>Multiple Revenue Streams</a:t>
            </a:r>
          </a:p>
          <a:p>
            <a:pPr marL="228600" indent="-228600">
              <a:buChar char="•"/>
            </a:pPr>
            <a:r>
              <a:rPr lang="en-GB" sz="2000" b="1" dirty="0">
                <a:solidFill>
                  <a:srgbClr val="4D5168"/>
                </a:solidFill>
                <a:latin typeface="Calibri"/>
              </a:rPr>
              <a:t xml:space="preserve">Freemium: </a:t>
            </a:r>
            <a:r>
              <a:rPr lang="en-GB" sz="2000" b="0" dirty="0">
                <a:solidFill>
                  <a:srgbClr val="1A1C2E"/>
                </a:solidFill>
                <a:latin typeface="Calibri"/>
              </a:rPr>
              <a:t>Free access for all registered students — drives adoption and platform network effect</a:t>
            </a:r>
          </a:p>
          <a:p>
            <a:pPr marL="228600" indent="-228600">
              <a:buChar char="•"/>
            </a:pPr>
            <a:r>
              <a:rPr lang="en-GB" sz="2000" b="1" dirty="0">
                <a:solidFill>
                  <a:srgbClr val="4D5168"/>
                </a:solidFill>
                <a:latin typeface="Calibri"/>
              </a:rPr>
              <a:t xml:space="preserve">Featured Listings: </a:t>
            </a:r>
            <a:r>
              <a:rPr lang="en-GB" sz="2000" b="0" dirty="0">
                <a:solidFill>
                  <a:srgbClr val="1A1C2E"/>
                </a:solidFill>
                <a:latin typeface="Calibri"/>
              </a:rPr>
              <a:t>Employers pay for featured and sponsored job placements at the top of listings</a:t>
            </a:r>
          </a:p>
          <a:p>
            <a:pPr marL="228600" indent="-228600">
              <a:buChar char="•"/>
            </a:pPr>
            <a:r>
              <a:rPr lang="en-GB" sz="2000" b="1" dirty="0">
                <a:solidFill>
                  <a:srgbClr val="4D5168"/>
                </a:solidFill>
                <a:latin typeface="Calibri"/>
              </a:rPr>
              <a:t xml:space="preserve">University Licensing: </a:t>
            </a:r>
            <a:r>
              <a:rPr lang="en-GB" sz="2000" b="0" dirty="0">
                <a:solidFill>
                  <a:srgbClr val="1A1C2E"/>
                </a:solidFill>
                <a:latin typeface="Calibri"/>
              </a:rPr>
              <a:t>Universities license the platform for their campus — SaaS model, low marginal cost to scale</a:t>
            </a:r>
          </a:p>
          <a:p>
            <a:pPr marL="228600" indent="-228600">
              <a:buChar char="•"/>
            </a:pPr>
            <a:r>
              <a:rPr lang="en-GB" sz="2000" b="1" dirty="0">
                <a:solidFill>
                  <a:srgbClr val="4D5168"/>
                </a:solidFill>
                <a:latin typeface="Calibri"/>
              </a:rPr>
              <a:t xml:space="preserve">Student Premium: </a:t>
            </a:r>
            <a:r>
              <a:rPr lang="en-GB" sz="2000" b="0" dirty="0">
                <a:solidFill>
                  <a:srgbClr val="1A1C2E"/>
                </a:solidFill>
                <a:latin typeface="Calibri"/>
              </a:rPr>
              <a:t>Premium student profiles with CV builder, skills badges, and priority applications</a:t>
            </a:r>
          </a:p>
          <a:p>
            <a:pPr marL="228600" indent="-228600">
              <a:buChar char="•"/>
            </a:pPr>
            <a:r>
              <a:rPr lang="en-GB" sz="2000" b="1" dirty="0">
                <a:solidFill>
                  <a:srgbClr val="4D5168"/>
                </a:solidFill>
                <a:latin typeface="Calibri"/>
              </a:rPr>
              <a:t xml:space="preserve">Accommodation Ads: </a:t>
            </a:r>
            <a:r>
              <a:rPr lang="en-GB" sz="2000" b="0" dirty="0">
                <a:solidFill>
                  <a:srgbClr val="1A1C2E"/>
                </a:solidFill>
                <a:latin typeface="Calibri"/>
              </a:rPr>
              <a:t>Accommodation providers pay for verified listing status and promoted placement</a:t>
            </a:r>
          </a:p>
          <a:p>
            <a:pPr marL="228600" indent="-228600">
              <a:buChar char="•"/>
            </a:pPr>
            <a:r>
              <a:rPr lang="en-GB" sz="2000" b="1" dirty="0">
                <a:solidFill>
                  <a:srgbClr val="4D5168"/>
                </a:solidFill>
                <a:latin typeface="Calibri"/>
              </a:rPr>
              <a:t xml:space="preserve">Data &amp; Analytics: </a:t>
            </a:r>
            <a:r>
              <a:rPr lang="en-GB" sz="2000" b="0" dirty="0">
                <a:solidFill>
                  <a:srgbClr val="1A1C2E"/>
                </a:solidFill>
                <a:latin typeface="Calibri"/>
              </a:rPr>
              <a:t>Anonymised platform insights sold to universities and large employers for workforce planning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BG"/>
          <p:cNvSpPr>
            <a:spLocks noGrp="1"/>
          </p:cNvSpPr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TitleBar"/>
          <p:cNvSpPr>
            <a:spLocks noGrp="1"/>
          </p:cNvSpPr>
          <p:nvPr/>
        </p:nvSpPr>
        <p:spPr>
          <a:xfrm>
            <a:off x="0" y="0"/>
            <a:ext cx="9144000" cy="971550"/>
          </a:xfrm>
          <a:prstGeom prst="rect">
            <a:avLst/>
          </a:prstGeom>
          <a:solidFill>
            <a:srgbClr val="4D516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GoldStrip"/>
          <p:cNvSpPr>
            <a:spLocks noGrp="1"/>
          </p:cNvSpPr>
          <p:nvPr/>
        </p:nvSpPr>
        <p:spPr>
          <a:xfrm>
            <a:off x="0" y="971550"/>
            <a:ext cx="9144000" cy="71438"/>
          </a:xfrm>
          <a:prstGeom prst="rect">
            <a:avLst/>
          </a:prstGeom>
          <a:solidFill>
            <a:srgbClr val="FAC81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"/>
            <a:ext cx="8229600" cy="742950"/>
          </a:xfrm>
        </p:spPr>
        <p:txBody>
          <a:bodyPr anchor="ctr"/>
          <a:lstStyle/>
          <a:p>
            <a:pPr algn="l"/>
            <a:r>
              <a:rPr lang="en-GB" sz="3200" b="1" dirty="0">
                <a:solidFill>
                  <a:srgbClr val="FFFFFF"/>
                </a:solidFill>
                <a:latin typeface="Calibri"/>
              </a:rPr>
              <a:t>Go-To-Market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14163"/>
            <a:ext cx="8229600" cy="5600000"/>
          </a:xfrm>
        </p:spPr>
        <p:txBody>
          <a:bodyPr anchor="t"/>
          <a:lstStyle/>
          <a:p>
            <a:pPr marL="0">
              <a:buNone/>
              <a:spcBef>
                <a:spcPts val="300"/>
              </a:spcBef>
            </a:pPr>
            <a:r>
              <a:rPr lang="en-GB" sz="2000" b="1" dirty="0">
                <a:solidFill>
                  <a:srgbClr val="4D5168"/>
                </a:solidFill>
                <a:latin typeface="Calibri"/>
              </a:rPr>
              <a:t>Phase 1: University of Wolverhampton Launch</a:t>
            </a:r>
          </a:p>
          <a:p>
            <a:pPr marL="228600" indent="-228600">
              <a:buChar char="•"/>
            </a:pPr>
            <a:r>
              <a:rPr lang="en-GB" sz="2000" b="0" dirty="0">
                <a:solidFill>
                  <a:srgbClr val="1A1C2E"/>
                </a:solidFill>
                <a:latin typeface="Calibri"/>
              </a:rPr>
              <a:t>Direct integration with the Careers Service and Students’ Union for immediate student reach</a:t>
            </a:r>
          </a:p>
          <a:p>
            <a:pPr marL="228600" indent="-228600">
              <a:buChar char="•"/>
            </a:pPr>
            <a:r>
              <a:rPr lang="en-GB" sz="2000" b="0" dirty="0">
                <a:solidFill>
                  <a:srgbClr val="1A1C2E"/>
                </a:solidFill>
                <a:latin typeface="Calibri"/>
              </a:rPr>
              <a:t>Student ambassador programme — peer-to-peer marketing on all three campuses</a:t>
            </a:r>
          </a:p>
          <a:p>
            <a:pPr marL="228600" indent="-228600">
              <a:buChar char="•"/>
            </a:pPr>
            <a:r>
              <a:rPr lang="en-GB" sz="2000" b="0" dirty="0">
                <a:solidFill>
                  <a:srgbClr val="1A1C2E"/>
                </a:solidFill>
                <a:latin typeface="Calibri"/>
              </a:rPr>
              <a:t>Employer onboarding: target local SMEs, hospitality, retail, and care sector employers</a:t>
            </a:r>
          </a:p>
          <a:p>
            <a:pPr marL="0">
              <a:buNone/>
              <a:spcBef>
                <a:spcPts val="300"/>
              </a:spcBef>
            </a:pPr>
            <a:r>
              <a:rPr lang="en-GB" sz="2000" b="1" dirty="0">
                <a:solidFill>
                  <a:srgbClr val="4D5168"/>
                </a:solidFill>
                <a:latin typeface="Calibri"/>
              </a:rPr>
              <a:t>Phase 2: Expand &amp; Deepen</a:t>
            </a:r>
          </a:p>
          <a:p>
            <a:pPr marL="228600" indent="-228600">
              <a:buChar char="•"/>
            </a:pPr>
            <a:r>
              <a:rPr lang="en-GB" sz="2000" b="0" dirty="0">
                <a:solidFill>
                  <a:srgbClr val="1A1C2E"/>
                </a:solidFill>
                <a:latin typeface="Calibri"/>
              </a:rPr>
              <a:t>Roll out accommodation and events verticals to drive daily active usage beyond job search</a:t>
            </a:r>
          </a:p>
          <a:p>
            <a:pPr marL="228600" indent="-228600">
              <a:buChar char="•"/>
            </a:pPr>
            <a:r>
              <a:rPr lang="en-GB" sz="2000" b="0" dirty="0">
                <a:solidFill>
                  <a:srgbClr val="1A1C2E"/>
                </a:solidFill>
                <a:latin typeface="Calibri"/>
              </a:rPr>
              <a:t>Social media targeting (Instagram, TikTok) for student acquisition; LinkedIn for employer outreach</a:t>
            </a:r>
          </a:p>
          <a:p>
            <a:pPr marL="228600" indent="-228600">
              <a:buChar char="•"/>
            </a:pPr>
            <a:r>
              <a:rPr lang="en-GB" sz="2000" b="0" dirty="0">
                <a:solidFill>
                  <a:srgbClr val="1A1C2E"/>
                </a:solidFill>
                <a:latin typeface="Calibri"/>
              </a:rPr>
              <a:t>Press coverage via university communications and local West Midlands business media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BG"/>
          <p:cNvSpPr>
            <a:spLocks noGrp="1"/>
          </p:cNvSpPr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TitleBar"/>
          <p:cNvSpPr>
            <a:spLocks noGrp="1"/>
          </p:cNvSpPr>
          <p:nvPr/>
        </p:nvSpPr>
        <p:spPr>
          <a:xfrm>
            <a:off x="0" y="0"/>
            <a:ext cx="9144000" cy="971550"/>
          </a:xfrm>
          <a:prstGeom prst="rect">
            <a:avLst/>
          </a:prstGeom>
          <a:solidFill>
            <a:srgbClr val="4D516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GoldStrip"/>
          <p:cNvSpPr>
            <a:spLocks noGrp="1"/>
          </p:cNvSpPr>
          <p:nvPr/>
        </p:nvSpPr>
        <p:spPr>
          <a:xfrm>
            <a:off x="0" y="971550"/>
            <a:ext cx="9144000" cy="71438"/>
          </a:xfrm>
          <a:prstGeom prst="rect">
            <a:avLst/>
          </a:prstGeom>
          <a:solidFill>
            <a:srgbClr val="FAC81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"/>
            <a:ext cx="8229600" cy="742950"/>
          </a:xfrm>
        </p:spPr>
        <p:txBody>
          <a:bodyPr anchor="ctr"/>
          <a:lstStyle/>
          <a:p>
            <a:pPr algn="l"/>
            <a:r>
              <a:rPr lang="en-GB" sz="3200" b="1" dirty="0">
                <a:solidFill>
                  <a:srgbClr val="FFFFFF"/>
                </a:solidFill>
                <a:latin typeface="Calibri"/>
              </a:rPr>
              <a:t>Growth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14163"/>
            <a:ext cx="8229600" cy="5600000"/>
          </a:xfrm>
        </p:spPr>
        <p:txBody>
          <a:bodyPr anchor="t"/>
          <a:lstStyle/>
          <a:p>
            <a:pPr marL="0">
              <a:buNone/>
            </a:pPr>
            <a:r>
              <a:rPr lang="en-GB" sz="4400" b="1" dirty="0">
                <a:solidFill>
                  <a:srgbClr val="FAC817"/>
                </a:solidFill>
                <a:latin typeface="Calibri"/>
              </a:rPr>
              <a:t xml:space="preserve">10+  </a:t>
            </a:r>
            <a:r>
              <a:rPr lang="en-GB" sz="1800" b="0" dirty="0">
                <a:solidFill>
                  <a:srgbClr val="4D5168"/>
                </a:solidFill>
                <a:latin typeface="Calibri"/>
              </a:rPr>
              <a:t>Target universities by Year 2</a:t>
            </a:r>
          </a:p>
          <a:p>
            <a:pPr marL="0">
              <a:buNone/>
            </a:pPr>
            <a:r>
              <a:rPr lang="en-GB" sz="4400" b="1" dirty="0">
                <a:solidFill>
                  <a:srgbClr val="FAC817"/>
                </a:solidFill>
                <a:latin typeface="Calibri"/>
              </a:rPr>
              <a:t xml:space="preserve">5,000+  </a:t>
            </a:r>
            <a:r>
              <a:rPr lang="en-GB" sz="1800" b="0" dirty="0">
                <a:solidFill>
                  <a:srgbClr val="4D5168"/>
                </a:solidFill>
                <a:latin typeface="Calibri"/>
              </a:rPr>
              <a:t>Projected student users (Year 1)</a:t>
            </a:r>
          </a:p>
          <a:p>
            <a:pPr marL="228600" indent="-228600">
              <a:buChar char="•"/>
            </a:pPr>
            <a:r>
              <a:rPr lang="en-GB" sz="2000" b="0" dirty="0">
                <a:solidFill>
                  <a:srgbClr val="1A1C2E"/>
                </a:solidFill>
                <a:latin typeface="Calibri"/>
              </a:rPr>
              <a:t>Platform architecture is multi-tenant ready — new universities onboard with minimal config changes</a:t>
            </a:r>
          </a:p>
          <a:p>
            <a:pPr marL="228600" indent="-228600">
              <a:buChar char="•"/>
            </a:pPr>
            <a:r>
              <a:rPr lang="en-GB" sz="2000" b="0" dirty="0">
                <a:solidFill>
                  <a:srgbClr val="1A1C2E"/>
                </a:solidFill>
                <a:latin typeface="Calibri"/>
              </a:rPr>
              <a:t>Expand AI Chatbot with natural language understanding via LLM API integration</a:t>
            </a:r>
          </a:p>
          <a:p>
            <a:pPr marL="228600" indent="-228600">
              <a:buChar char="•"/>
            </a:pPr>
            <a:r>
              <a:rPr lang="en-GB" sz="2000" b="0" dirty="0">
                <a:solidFill>
                  <a:srgbClr val="1A1C2E"/>
                </a:solidFill>
                <a:latin typeface="Calibri"/>
              </a:rPr>
              <a:t>Add University SSO (single sign-on) to remove registration friction</a:t>
            </a:r>
          </a:p>
          <a:p>
            <a:pPr marL="228600" indent="-228600">
              <a:buChar char="•"/>
            </a:pPr>
            <a:r>
              <a:rPr lang="en-GB" sz="2000" b="0" dirty="0">
                <a:solidFill>
                  <a:srgbClr val="1A1C2E"/>
                </a:solidFill>
                <a:latin typeface="Calibri"/>
              </a:rPr>
              <a:t>Mobile push notifications for new job matches, application updates, and event reminders</a:t>
            </a:r>
          </a:p>
          <a:p>
            <a:pPr marL="228600" indent="-228600">
              <a:buChar char="•"/>
            </a:pPr>
            <a:r>
              <a:rPr lang="en-GB" sz="2000" b="0" dirty="0">
                <a:solidFill>
                  <a:srgbClr val="1A1C2E"/>
                </a:solidFill>
                <a:latin typeface="Calibri"/>
              </a:rPr>
              <a:t>Nationwide employer partnerships once multi-university network reaches critical mass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BG"/>
          <p:cNvSpPr>
            <a:spLocks noGrp="1"/>
          </p:cNvSpPr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TitleBar"/>
          <p:cNvSpPr>
            <a:spLocks noGrp="1"/>
          </p:cNvSpPr>
          <p:nvPr/>
        </p:nvSpPr>
        <p:spPr>
          <a:xfrm>
            <a:off x="0" y="0"/>
            <a:ext cx="9144000" cy="971550"/>
          </a:xfrm>
          <a:prstGeom prst="rect">
            <a:avLst/>
          </a:prstGeom>
          <a:solidFill>
            <a:srgbClr val="4D516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GoldStrip"/>
          <p:cNvSpPr>
            <a:spLocks noGrp="1"/>
          </p:cNvSpPr>
          <p:nvPr/>
        </p:nvSpPr>
        <p:spPr>
          <a:xfrm>
            <a:off x="0" y="971550"/>
            <a:ext cx="9144000" cy="71438"/>
          </a:xfrm>
          <a:prstGeom prst="rect">
            <a:avLst/>
          </a:prstGeom>
          <a:solidFill>
            <a:srgbClr val="FAC81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"/>
            <a:ext cx="8229600" cy="742950"/>
          </a:xfrm>
        </p:spPr>
        <p:txBody>
          <a:bodyPr anchor="ctr"/>
          <a:lstStyle/>
          <a:p>
            <a:pPr algn="l"/>
            <a:r>
              <a:rPr lang="en-GB" sz="3200" b="1" dirty="0">
                <a:solidFill>
                  <a:srgbClr val="FFFFFF"/>
                </a:solidFill>
                <a:latin typeface="Calibri"/>
              </a:rPr>
              <a:t>Investment &amp;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14163"/>
            <a:ext cx="8229600" cy="5600000"/>
          </a:xfrm>
        </p:spPr>
        <p:txBody>
          <a:bodyPr anchor="t"/>
          <a:lstStyle/>
          <a:p>
            <a:pPr marL="0">
              <a:buNone/>
              <a:spcBef>
                <a:spcPts val="300"/>
              </a:spcBef>
            </a:pPr>
            <a:r>
              <a:rPr lang="en-GB" sz="2000" b="1" dirty="0">
                <a:solidFill>
                  <a:srgbClr val="4D5168"/>
                </a:solidFill>
                <a:latin typeface="Calibri"/>
              </a:rPr>
              <a:t>What We’ve Achieved</a:t>
            </a:r>
          </a:p>
          <a:p>
            <a:pPr marL="228600" indent="-228600">
              <a:buChar char="•"/>
            </a:pPr>
            <a:r>
              <a:rPr lang="en-GB" sz="2000" b="0" dirty="0">
                <a:solidFill>
                  <a:srgbClr val="1A1C2E"/>
                </a:solidFill>
                <a:latin typeface="Calibri"/>
              </a:rPr>
              <a:t>MMP fully built, tested, and deployed — this is not a prototype, it is a live product</a:t>
            </a:r>
          </a:p>
          <a:p>
            <a:pPr marL="228600" indent="-228600">
              <a:buChar char="•"/>
            </a:pPr>
            <a:r>
              <a:rPr lang="en-GB" sz="2000" b="0" dirty="0">
                <a:solidFill>
                  <a:srgbClr val="1A1C2E"/>
                </a:solidFill>
                <a:latin typeface="Calibri"/>
              </a:rPr>
              <a:t>Next.js 16 + MySQL stack proven and scalable with Vercel deployment pipeline in place</a:t>
            </a:r>
          </a:p>
          <a:p>
            <a:pPr marL="228600" indent="-228600">
              <a:buChar char="•"/>
            </a:pPr>
            <a:r>
              <a:rPr lang="en-GB" sz="2000" b="0" dirty="0">
                <a:solidFill>
                  <a:srgbClr val="1A1C2E"/>
                </a:solidFill>
                <a:latin typeface="Calibri"/>
              </a:rPr>
              <a:t>6 fully functional features shipped: Jobs, Accommodation, Events, Profile, Admin, Chatbot</a:t>
            </a:r>
          </a:p>
          <a:p>
            <a:pPr marL="0">
              <a:buNone/>
              <a:spcBef>
                <a:spcPts val="300"/>
              </a:spcBef>
            </a:pPr>
            <a:r>
              <a:rPr lang="en-GB" sz="2000" b="1" dirty="0">
                <a:solidFill>
                  <a:srgbClr val="4D5168"/>
                </a:solidFill>
                <a:latin typeface="Calibri"/>
              </a:rPr>
              <a:t>What Investment Enables</a:t>
            </a:r>
          </a:p>
          <a:p>
            <a:pPr marL="228600" indent="-228600">
              <a:buChar char="•"/>
            </a:pPr>
            <a:r>
              <a:rPr lang="en-GB" sz="2000" b="0" dirty="0">
                <a:solidFill>
                  <a:srgbClr val="1A1C2E"/>
                </a:solidFill>
                <a:latin typeface="Calibri"/>
              </a:rPr>
              <a:t>University partnership agreements and dedicated sales resource</a:t>
            </a:r>
          </a:p>
          <a:p>
            <a:pPr marL="228600" indent="-228600">
              <a:buChar char="•"/>
            </a:pPr>
            <a:r>
              <a:rPr lang="en-GB" sz="2000" b="0" dirty="0">
                <a:solidFill>
                  <a:srgbClr val="1A1C2E"/>
                </a:solidFill>
                <a:latin typeface="Calibri"/>
              </a:rPr>
              <a:t>AI/LLM integration for intelligent job-matching and chatbot upgrade</a:t>
            </a:r>
          </a:p>
          <a:p>
            <a:pPr marL="228600" indent="-228600">
              <a:buChar char="•"/>
            </a:pPr>
            <a:r>
              <a:rPr lang="en-GB" sz="2000" b="0" dirty="0">
                <a:solidFill>
                  <a:srgbClr val="1A1C2E"/>
                </a:solidFill>
                <a:latin typeface="Calibri"/>
              </a:rPr>
              <a:t>Native mobile apps (iOS + Android) to complement the responsive web platform</a:t>
            </a:r>
          </a:p>
          <a:p>
            <a:pPr marL="228600" indent="-228600">
              <a:buChar char="•"/>
            </a:pPr>
            <a:r>
              <a:rPr lang="en-GB" sz="2000" b="0" dirty="0">
                <a:solidFill>
                  <a:srgbClr val="1A1C2E"/>
                </a:solidFill>
                <a:latin typeface="Calibri"/>
              </a:rPr>
              <a:t>Full GDPR compliance audit, accessibility (WCAG 2.1 AA), and enterprise security hardening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